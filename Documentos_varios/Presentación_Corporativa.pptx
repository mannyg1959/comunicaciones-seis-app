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845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856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5044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5984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2878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1412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0084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8474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1880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5118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8512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038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46F90-8331-4850-8DFE-3C64FA4985CB}" type="datetimeFigureOut">
              <a:rPr lang="es-VE" smtClean="0"/>
              <a:t>25/8/2026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99831-2CC4-47EB-8CBC-728AF10B960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1488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 Grupo"/>
          <p:cNvGrpSpPr/>
          <p:nvPr/>
        </p:nvGrpSpPr>
        <p:grpSpPr>
          <a:xfrm>
            <a:off x="-46378" y="0"/>
            <a:ext cx="9236756" cy="5143500"/>
            <a:chOff x="-46378" y="0"/>
            <a:chExt cx="9236756" cy="5143500"/>
          </a:xfrm>
        </p:grpSpPr>
        <p:grpSp>
          <p:nvGrpSpPr>
            <p:cNvPr id="2" name="1 Grupo"/>
            <p:cNvGrpSpPr/>
            <p:nvPr/>
          </p:nvGrpSpPr>
          <p:grpSpPr>
            <a:xfrm>
              <a:off x="-46378" y="0"/>
              <a:ext cx="9236756" cy="5143500"/>
              <a:chOff x="-46378" y="0"/>
              <a:chExt cx="9236756" cy="514350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6378" y="0"/>
                <a:ext cx="9236756" cy="5143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" name="3 Imagen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544" y="267494"/>
                <a:ext cx="1499848" cy="1059582"/>
              </a:xfrm>
              <a:prstGeom prst="rect">
                <a:avLst/>
              </a:prstGeom>
            </p:spPr>
          </p:pic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3225" y="4906962"/>
                <a:ext cx="1120775" cy="236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6" name="5 Imagen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4270" y="4371950"/>
              <a:ext cx="1539903" cy="535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131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-3379" y="1456"/>
            <a:ext cx="9161701" cy="5142044"/>
            <a:chOff x="-3379" y="1456"/>
            <a:chExt cx="9161701" cy="514204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379" y="1456"/>
              <a:ext cx="9161701" cy="514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457"/>
              <a:ext cx="6696744" cy="10581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8915" y="3849117"/>
              <a:ext cx="1089025" cy="1279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5 CuadroTexto"/>
            <p:cNvSpPr txBox="1"/>
            <p:nvPr/>
          </p:nvSpPr>
          <p:spPr>
            <a:xfrm>
              <a:off x="2243795" y="268910"/>
              <a:ext cx="42963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2200" b="1" dirty="0" smtClean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Diseño modular de la Aplicación </a:t>
              </a:r>
              <a:endParaRPr lang="es-VE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203184"/>
            <a:ext cx="1368152" cy="475340"/>
          </a:xfrm>
          <a:prstGeom prst="rect">
            <a:avLst/>
          </a:prstGeom>
        </p:spPr>
      </p:pic>
      <p:sp>
        <p:nvSpPr>
          <p:cNvPr id="10" name="9 CuadroTexto"/>
          <p:cNvSpPr txBox="1"/>
          <p:nvPr/>
        </p:nvSpPr>
        <p:spPr>
          <a:xfrm>
            <a:off x="0" y="699797"/>
            <a:ext cx="9158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2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Un ecosistema conformado por 4 módulos que interactúan durante el ciclo de vida de la operación </a:t>
            </a:r>
            <a:endParaRPr lang="es-VE" sz="1200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190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-92546"/>
            <a:ext cx="9161800" cy="5333762"/>
            <a:chOff x="0" y="-92546"/>
            <a:chExt cx="9161800" cy="533376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92546"/>
              <a:ext cx="9161800" cy="5333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2 CuadroTexto"/>
            <p:cNvSpPr txBox="1"/>
            <p:nvPr/>
          </p:nvSpPr>
          <p:spPr>
            <a:xfrm>
              <a:off x="0" y="555526"/>
              <a:ext cx="9158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VE" sz="1200" dirty="0" smtClean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Permite definir Roles y Accesos para cada usuario del sistema en función a la unidad de negocio</a:t>
              </a:r>
              <a:endParaRPr lang="es-VE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8915" y="4700548"/>
              <a:ext cx="1089025" cy="540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57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-82432" y="-34727"/>
            <a:ext cx="9277658" cy="5178228"/>
            <a:chOff x="-82432" y="-34727"/>
            <a:chExt cx="9277658" cy="5178228"/>
          </a:xfrm>
        </p:grpSpPr>
        <p:grpSp>
          <p:nvGrpSpPr>
            <p:cNvPr id="2" name="1 Grupo"/>
            <p:cNvGrpSpPr/>
            <p:nvPr/>
          </p:nvGrpSpPr>
          <p:grpSpPr>
            <a:xfrm>
              <a:off x="-82432" y="-34727"/>
              <a:ext cx="9277658" cy="5178228"/>
              <a:chOff x="-82432" y="-34727"/>
              <a:chExt cx="9277658" cy="5178228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82432" y="-34727"/>
                <a:ext cx="9277658" cy="5178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" name="2 CuadroTexto"/>
              <p:cNvSpPr txBox="1"/>
              <p:nvPr/>
            </p:nvSpPr>
            <p:spPr>
              <a:xfrm>
                <a:off x="0" y="586894"/>
                <a:ext cx="9158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VE" sz="1200" dirty="0" smtClean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Permite tener un fotografía al instante de desarrollo de las operaciones Comerciales y de Producción</a:t>
                </a:r>
                <a:endParaRPr lang="es-VE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8915" y="4970882"/>
              <a:ext cx="1089025" cy="135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8192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9131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915" y="4970882"/>
            <a:ext cx="1089025" cy="135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0"/>
            <a:ext cx="5760640" cy="69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" y="248590"/>
            <a:ext cx="9143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200" b="1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El ciclo de vida de la Operación </a:t>
            </a:r>
            <a:r>
              <a:rPr lang="es-VE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</a:t>
            </a:r>
            <a:r>
              <a:rPr lang="es-VE" sz="2200" b="1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omercial (Cotizaciones)</a:t>
            </a:r>
            <a:endParaRPr lang="es-VE" sz="2200" b="1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39552" y="679477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Controla y realiza el seguimiento a propuestas </a:t>
            </a:r>
            <a:r>
              <a:rPr lang="es-ES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comerciales, coordina tareas del equipo creativo y automatiza la aprobación </a:t>
            </a:r>
            <a:r>
              <a:rPr lang="es-ES" sz="12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y conversión a ordenes de trabajo</a:t>
            </a:r>
            <a:endParaRPr lang="es-VE" sz="1200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05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-23933" y="-4798"/>
            <a:ext cx="9228345" cy="5240844"/>
            <a:chOff x="-23933" y="-4798"/>
            <a:chExt cx="9228345" cy="5240844"/>
          </a:xfrm>
        </p:grpSpPr>
        <p:grpSp>
          <p:nvGrpSpPr>
            <p:cNvPr id="2" name="1 Grupo"/>
            <p:cNvGrpSpPr/>
            <p:nvPr/>
          </p:nvGrpSpPr>
          <p:grpSpPr>
            <a:xfrm>
              <a:off x="-23933" y="-4798"/>
              <a:ext cx="9228345" cy="5240844"/>
              <a:chOff x="-23933" y="-4798"/>
              <a:chExt cx="9228345" cy="5240844"/>
            </a:xfrm>
          </p:grpSpPr>
          <p:pic>
            <p:nvPicPr>
              <p:cNvPr id="6149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3933" y="-4798"/>
                <a:ext cx="9228345" cy="52408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400" y="123477"/>
                <a:ext cx="8699072" cy="1656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3 CuadroTexto"/>
              <p:cNvSpPr txBox="1"/>
              <p:nvPr/>
            </p:nvSpPr>
            <p:spPr>
              <a:xfrm>
                <a:off x="1" y="248590"/>
                <a:ext cx="91439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200" b="1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Gestión eficiente de propuestas comerciales - Cotizaciones</a:t>
                </a:r>
                <a:endParaRPr lang="es-VE" sz="2200" b="1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5" name="4 CuadroTexto"/>
              <p:cNvSpPr txBox="1"/>
              <p:nvPr/>
            </p:nvSpPr>
            <p:spPr>
              <a:xfrm>
                <a:off x="-23933" y="679477"/>
                <a:ext cx="91679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200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Al generar un cotización, el sistema empaqueta automáticamente los datos del cliente, condiciones de pago</a:t>
                </a:r>
              </a:p>
              <a:p>
                <a:pPr algn="ctr"/>
                <a:r>
                  <a:rPr lang="es-ES" sz="1200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y tabla de precios bajo el formato estandarizado cotizacion_COT-XXX.pdf. Tras guardar cualquier</a:t>
                </a:r>
              </a:p>
              <a:p>
                <a:pPr algn="ctr"/>
                <a:r>
                  <a:rPr lang="es-ES" sz="1200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cambio, el sistema genera un PDF y comparte </a:t>
                </a:r>
                <a:r>
                  <a:rPr lang="es-ES" sz="1200" dirty="0" err="1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via</a:t>
                </a:r>
                <a:r>
                  <a:rPr lang="es-ES" sz="1200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 </a:t>
                </a:r>
                <a:r>
                  <a:rPr lang="es-ES" sz="1200" dirty="0" err="1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WhatsApp</a:t>
                </a:r>
                <a:endParaRPr lang="es-VE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38448" y1="37545" x2="41336" y2="5270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463" t="15701" r="18385" b="16307"/>
              <a:stretch/>
            </p:blipFill>
            <p:spPr bwMode="auto">
              <a:xfrm>
                <a:off x="5013320" y="3569894"/>
                <a:ext cx="350768" cy="377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100" name="Picture 4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97937" y="4974431"/>
                <a:ext cx="1006475" cy="198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800" y="2512548"/>
              <a:ext cx="3049488" cy="896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2 CuadroTexto"/>
            <p:cNvSpPr txBox="1"/>
            <p:nvPr/>
          </p:nvSpPr>
          <p:spPr>
            <a:xfrm>
              <a:off x="2744422" y="2552419"/>
              <a:ext cx="127900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1300" dirty="0" smtClean="0">
                  <a:solidFill>
                    <a:schemeClr val="bg1"/>
                  </a:solidFill>
                </a:rPr>
                <a:t>Logos y Gráficos</a:t>
              </a:r>
              <a:endParaRPr lang="es-VE" sz="1300" dirty="0">
                <a:solidFill>
                  <a:schemeClr val="bg1"/>
                </a:solidFill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2753239" y="2832480"/>
              <a:ext cx="167360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1300" dirty="0" smtClean="0">
                  <a:solidFill>
                    <a:schemeClr val="bg1"/>
                  </a:solidFill>
                </a:rPr>
                <a:t>Estructura y acabados</a:t>
              </a:r>
              <a:endParaRPr lang="es-VE" sz="1300" dirty="0">
                <a:solidFill>
                  <a:schemeClr val="bg1"/>
                </a:solidFill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2756686" y="3090284"/>
              <a:ext cx="166026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1300" dirty="0" smtClean="0">
                  <a:solidFill>
                    <a:schemeClr val="bg1"/>
                  </a:solidFill>
                </a:rPr>
                <a:t>Logística e Instalación</a:t>
              </a:r>
              <a:endParaRPr lang="es-VE" sz="13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673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-92546"/>
            <a:ext cx="9252520" cy="5408776"/>
            <a:chOff x="0" y="-92546"/>
            <a:chExt cx="9252520" cy="5408776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92546"/>
              <a:ext cx="9252520" cy="5408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6045" y="5111442"/>
              <a:ext cx="1006475" cy="198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0" y="-61684"/>
              <a:ext cx="9249060" cy="1697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4 CuadroTexto"/>
            <p:cNvSpPr txBox="1"/>
            <p:nvPr/>
          </p:nvSpPr>
          <p:spPr>
            <a:xfrm>
              <a:off x="1" y="248590"/>
              <a:ext cx="9143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200" b="1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Las Cotizaciones se traducen automáticamente en ejecución (OT)</a:t>
              </a:r>
              <a:endParaRPr lang="es-VE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539552" y="679477"/>
              <a:ext cx="7920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Aprobar una cotización es solo el inicio. EI sistema elimina la fricción manual, inyectando</a:t>
              </a:r>
            </a:p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inmediatamente los requerimientos técnicos directamente en el flujo de la planta de producción mediante Ordenes de Trabajo.</a:t>
              </a:r>
              <a:endParaRPr lang="es-VE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905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-23933" y="-487"/>
            <a:ext cx="9240243" cy="5143987"/>
            <a:chOff x="-23933" y="-487"/>
            <a:chExt cx="9240243" cy="5143987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487"/>
              <a:ext cx="9216310" cy="5143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0" y="70961"/>
              <a:ext cx="9189510" cy="968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3 CuadroTexto"/>
            <p:cNvSpPr txBox="1"/>
            <p:nvPr/>
          </p:nvSpPr>
          <p:spPr>
            <a:xfrm>
              <a:off x="1" y="246286"/>
              <a:ext cx="9143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200" b="1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Flujo controlado de la Operación de Producción</a:t>
              </a:r>
              <a:endParaRPr lang="es-VE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" name="4 CuadroTexto"/>
            <p:cNvSpPr txBox="1"/>
            <p:nvPr/>
          </p:nvSpPr>
          <p:spPr>
            <a:xfrm>
              <a:off x="-23933" y="660633"/>
              <a:ext cx="91679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Ayuda en tres puntos principales dentro de la aplicación: </a:t>
              </a:r>
            </a:p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* Muestra el progreso real: Permite ver cuánto se ha fabricado hoy frente a la meta final.</a:t>
              </a:r>
            </a:p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* Evita el desorden: Indica que el trabajo sigue un orden lógico y paso a paso.</a:t>
              </a:r>
            </a:p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* Facilita decisiones: Ayuda a los jefes a saber si van a tiempo o si hay retrasos.</a:t>
              </a:r>
              <a:endParaRPr lang="es-VE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098" y="1457370"/>
              <a:ext cx="9044594" cy="190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3508" y="1922507"/>
              <a:ext cx="6172200" cy="974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5277" y="4948015"/>
              <a:ext cx="918723" cy="144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96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76" y="-14304"/>
            <a:ext cx="9241065" cy="5157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82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-256607" y="-143222"/>
            <a:ext cx="9472043" cy="5286722"/>
            <a:chOff x="-256607" y="-143222"/>
            <a:chExt cx="9472043" cy="5286722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56607" y="-143222"/>
              <a:ext cx="9472043" cy="5286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4803999"/>
              <a:ext cx="6819900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0367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15438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926" y="4825108"/>
            <a:ext cx="1115046" cy="28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181"/>
            <a:ext cx="9144000" cy="15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" y="248590"/>
            <a:ext cx="9143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Inteligencia de negocio y anticipación de problemas</a:t>
            </a:r>
            <a:endParaRPr lang="es-VE" sz="2200" b="1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" y="711009"/>
            <a:ext cx="9215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EI sistema audita la operación 24/7. Genera alertas automáticas para prevenir fallos operativos: OTS sin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asignar por demasiadas horas, progreso estancado, o cotizaciones a punto de vencer. Todo exportable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en formato CSV para análisis externo.</a:t>
            </a:r>
            <a:endParaRPr lang="es-VE" sz="1200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43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215438" cy="5143500"/>
            <a:chOff x="0" y="0"/>
            <a:chExt cx="9215438" cy="5143500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215438" cy="5143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14317"/>
              <a:ext cx="9215438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4 CuadroTexto"/>
            <p:cNvSpPr txBox="1"/>
            <p:nvPr/>
          </p:nvSpPr>
          <p:spPr>
            <a:xfrm>
              <a:off x="1" y="248590"/>
              <a:ext cx="9143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200" b="1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Las palancas de control del sistema (Solo Administradores)</a:t>
              </a:r>
              <a:endParaRPr lang="es-VE" sz="22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1" y="640062"/>
              <a:ext cx="9215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EI sistema </a:t>
              </a:r>
              <a:r>
                <a:rPr lang="es-ES" sz="1200" dirty="0" smtClean="0">
                  <a:solidFill>
                    <a:schemeClr val="bg1"/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está diseñado para establecer métricas para evaluar el desempeño de la producción y la gestión de ventas. Lleva el registro detallado de los cambios y actualizaciones realizadas (log) y permite seguridad en los accesos</a:t>
              </a:r>
              <a:endParaRPr lang="es-VE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778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-11023" y="0"/>
            <a:ext cx="9215438" cy="5143500"/>
            <a:chOff x="-11023" y="0"/>
            <a:chExt cx="9215438" cy="5143500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023" y="0"/>
              <a:ext cx="9215438" cy="5143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3575" y="4948014"/>
              <a:ext cx="860425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264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4 Grupo"/>
          <p:cNvGrpSpPr/>
          <p:nvPr/>
        </p:nvGrpSpPr>
        <p:grpSpPr>
          <a:xfrm>
            <a:off x="1885" y="-5291"/>
            <a:ext cx="9224917" cy="5148791"/>
            <a:chOff x="1885" y="-5291"/>
            <a:chExt cx="9224917" cy="5148791"/>
          </a:xfrm>
        </p:grpSpPr>
        <p:grpSp>
          <p:nvGrpSpPr>
            <p:cNvPr id="4" name="3 Grupo"/>
            <p:cNvGrpSpPr/>
            <p:nvPr/>
          </p:nvGrpSpPr>
          <p:grpSpPr>
            <a:xfrm>
              <a:off x="1885" y="-5291"/>
              <a:ext cx="9224917" cy="5148791"/>
              <a:chOff x="1885" y="-5291"/>
              <a:chExt cx="9224917" cy="5148791"/>
            </a:xfrm>
          </p:grpSpPr>
          <p:grpSp>
            <p:nvGrpSpPr>
              <p:cNvPr id="3" name="2 Grupo"/>
              <p:cNvGrpSpPr/>
              <p:nvPr/>
            </p:nvGrpSpPr>
            <p:grpSpPr>
              <a:xfrm>
                <a:off x="1885" y="-5291"/>
                <a:ext cx="9224917" cy="5148791"/>
                <a:chOff x="1885" y="-5291"/>
                <a:chExt cx="9224917" cy="5148791"/>
              </a:xfrm>
            </p:grpSpPr>
            <p:pic>
              <p:nvPicPr>
                <p:cNvPr id="15362" name="Picture 2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85" y="-5291"/>
                  <a:ext cx="9224917" cy="51487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363" name="Picture 3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47665" y="2715766"/>
                  <a:ext cx="5904656" cy="1296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" name="1 CuadroTexto"/>
                <p:cNvSpPr txBox="1"/>
                <p:nvPr/>
              </p:nvSpPr>
              <p:spPr>
                <a:xfrm>
                  <a:off x="3548450" y="2695524"/>
                  <a:ext cx="190308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VE" sz="3600" dirty="0" smtClean="0">
                      <a:solidFill>
                        <a:schemeClr val="bg1"/>
                      </a:solidFill>
                      <a:latin typeface="Arial Unicode MS" pitchFamily="34" charset="-128"/>
                      <a:ea typeface="Arial Unicode MS" pitchFamily="34" charset="-128"/>
                      <a:cs typeface="Arial Unicode MS" pitchFamily="34" charset="-128"/>
                    </a:rPr>
                    <a:t>Gracias </a:t>
                  </a:r>
                  <a:endParaRPr lang="es-VE" sz="3600" dirty="0">
                    <a:solidFill>
                      <a:schemeClr val="bg1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  <p:pic>
            <p:nvPicPr>
              <p:cNvPr id="11266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41664" y="4948014"/>
                <a:ext cx="8159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8" name="7 Imagen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7914" y="3435846"/>
              <a:ext cx="1404156" cy="991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682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360</Words>
  <Application>Microsoft Office PowerPoint</Application>
  <PresentationFormat>Presentación en pantalla (16:9)</PresentationFormat>
  <Paragraphs>28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Gomez</dc:creator>
  <cp:lastModifiedBy>Manuel Gomez</cp:lastModifiedBy>
  <cp:revision>14</cp:revision>
  <dcterms:created xsi:type="dcterms:W3CDTF">2026-08-21T11:59:28Z</dcterms:created>
  <dcterms:modified xsi:type="dcterms:W3CDTF">2026-08-25T09:54:17Z</dcterms:modified>
</cp:coreProperties>
</file>